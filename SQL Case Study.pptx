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03B3AB-2A29-4B68-9C24-64558501907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793E-4BB5-0110-EE9B-DAE47320E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48F90-4729-8B66-1070-A9F6F8216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945BA-B6D6-AB8E-FADB-973DB2E2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2DB65-A377-064E-6F8A-69BD87ED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5AAF3-A3DD-4705-861E-6DE80343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1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C814-FCF2-9373-9E71-4371314F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740E3-F94B-9075-A6D3-2A5A9955A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EA8D2-F99F-3BD5-59D3-E144938F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A4DE-4BBE-5C3D-8C8F-68E879CC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7DEF6-C976-2273-1E2B-8FC246A6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1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A28F-365F-7856-332A-683B2125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80680-680D-1C3A-34C7-09C655742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74B09-1150-3251-23AF-BD2DA613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25B0A-D991-29D6-3D49-5BC12589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DDEE0-8412-F16A-2937-45043E5C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1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704C-F4C8-EDA5-058D-C709826E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65CCC-2655-B538-910E-F404D01F3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C9136-BBB7-F33B-21E7-62C5CD47F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BCF43-4CB0-EC28-E802-944558FE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F12F7-782F-2C11-9F61-55B7A147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AF9E2-FE5E-59C7-C5CF-DCBD3799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4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3F9B-DF2A-2A66-6653-EAB990C8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E9244-A06A-3E5A-F06A-891747575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B06DC-6C87-0C33-D49C-0B816D84E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2F6A4-F370-DCA0-A053-DAD923A24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038D39-09C6-8B42-03EC-D69E284DA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CDAD0-695F-0052-1B72-8339C1D25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2996E-C59B-343A-468E-81F413FC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A0D32-B086-5330-3A0E-ACC99CFF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6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E7FD-0BA1-596E-46C0-65AE1D72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3866A-C593-AD17-BB3A-A3E7DE0C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1859A-1FAB-94DA-A065-F72341BE4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19BE9-DC6A-6FC0-EF80-C3A2D58A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00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56F90-B5AC-4057-05FC-CB6125BB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686F8-3816-B7AC-C45C-83979B4C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224A2-1A7C-04D4-D0BD-E62CFE95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3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2C15-09EE-F046-D1FB-4285C9E2A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143C5-05FA-39B2-6C55-758A6ED26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B16D0-AF42-AB06-4541-444ADF11B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F1E56-D1D0-B2AC-D157-1592397E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B31E4-A526-3917-0C71-26770C10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D54AB-276E-1FA8-E550-3442E5A7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05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9B90-9D88-55A4-33FB-D5CF9E2D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4B3F4-1269-ACCD-8902-5C98C691C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A2EED-8106-C6C5-A311-21A9BFDD1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B6EA6-2AD7-0FCE-A180-085B46B39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BC025-57F6-96BD-C1F6-08DE019B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131B2-A1FA-4A18-E3B3-A9B05DDB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15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D2A3-F753-23D1-A2D6-1613A5D7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DD379-3704-65F7-1A19-2D3F0501A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82E5D-B2ED-8C6D-54BB-AAD55A16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716F8-70C6-2591-D072-198800C7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E3D56-A576-5C62-325E-4DA60E58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21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69F0E-7E6B-3AD0-1FE8-BFED5596BB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11E1C-A3D7-3F9D-C370-0ED4F5222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53B79-472E-3C1E-A5BC-45721C70B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467D5-FCDE-5440-6A12-A97BE674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9B550-0B87-DA14-44F1-12C8BE93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43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17AE9-62C9-65D1-BED2-4BB9F85F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AC680-94DB-78D0-AA3B-5A578F503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88616-8A0C-796B-EBEF-2F8908CFE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2A54C-BAF0-42A9-B747-C9C2388B867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1F24F-23AF-50A7-5773-8D46A4558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D1AE2-502D-707E-0B68-D93B3C3A5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60239-7C20-4396-9F31-AF97DCCE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32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9120-49A0-EC3B-C5FA-F024EA300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 anchor="t">
            <a:normAutofit/>
          </a:bodyPr>
          <a:lstStyle/>
          <a:p>
            <a:pPr algn="l"/>
            <a:r>
              <a:rPr lang="en-US" sz="2000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SQL Case Study</a:t>
            </a:r>
            <a:br>
              <a:rPr lang="en-US" sz="2000" b="1" dirty="0">
                <a:solidFill>
                  <a:srgbClr val="64FFDA"/>
                </a:solidFill>
                <a:latin typeface="Manrope"/>
                <a:ea typeface="Manrope"/>
                <a:cs typeface="Manrope"/>
                <a:sym typeface="Manrope"/>
              </a:rPr>
            </a:br>
            <a:br>
              <a:rPr lang="en-US" sz="2000" b="1" dirty="0">
                <a:solidFill>
                  <a:srgbClr val="64FFDA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US" sz="3600" b="1" i="0" u="none" strike="noStrike" cap="none" dirty="0">
                <a:solidFill>
                  <a:srgbClr val="E6F1FF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Simple Banking </a:t>
            </a:r>
            <a:r>
              <a:rPr lang="en-US" sz="4000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Application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AEC78-0FC9-D2DD-D8D3-F0801425E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This case study involves a simple banking application, covering customers, accounts, transactions, branches, account-branch assignments, and loans</a:t>
            </a:r>
          </a:p>
        </p:txBody>
      </p:sp>
    </p:spTree>
    <p:extLst>
      <p:ext uri="{BB962C8B-B14F-4D97-AF65-F5344CB8AC3E}">
        <p14:creationId xmlns:p14="http://schemas.microsoft.com/office/powerpoint/2010/main" val="3404508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DFD8-5CB3-754D-FB8F-D2E7AF45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4FFDA"/>
                </a:solidFill>
                <a:latin typeface="Manrope"/>
                <a:ea typeface="Manrope"/>
                <a:cs typeface="Manrope"/>
                <a:sym typeface="Manrope"/>
              </a:rPr>
              <a:t>Database Schema</a:t>
            </a:r>
            <a:br>
              <a:rPr lang="en-US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D72B6A-A9DD-C285-6265-AA733AFFD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" t="7457" r="4088"/>
          <a:stretch>
            <a:fillRect/>
          </a:stretch>
        </p:blipFill>
        <p:spPr>
          <a:xfrm>
            <a:off x="5600775" y="1120154"/>
            <a:ext cx="6120245" cy="474883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BDB7E-1101-C7D1-4876-6238F58BC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Customers To Accounts</a:t>
            </a:r>
          </a:p>
          <a:p>
            <a:r>
              <a:rPr lang="en-IN" b="1" dirty="0">
                <a:solidFill>
                  <a:schemeClr val="bg1"/>
                </a:solidFill>
              </a:rPr>
              <a:t>Relationship: One to many</a:t>
            </a:r>
          </a:p>
          <a:p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Customers To Loans</a:t>
            </a:r>
          </a:p>
          <a:p>
            <a:r>
              <a:rPr lang="en-IN" b="1" dirty="0">
                <a:solidFill>
                  <a:schemeClr val="bg1"/>
                </a:solidFill>
              </a:rPr>
              <a:t>Relationship: One to Many</a:t>
            </a:r>
          </a:p>
          <a:p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Accounts To Transactions</a:t>
            </a:r>
          </a:p>
          <a:p>
            <a:r>
              <a:rPr lang="en-IN" b="1" dirty="0">
                <a:solidFill>
                  <a:schemeClr val="bg1"/>
                </a:solidFill>
              </a:rPr>
              <a:t>Relationship: One to Many</a:t>
            </a:r>
          </a:p>
          <a:p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Accounts To AccountBranches</a:t>
            </a:r>
          </a:p>
          <a:p>
            <a:r>
              <a:rPr lang="en-IN" b="1" dirty="0">
                <a:solidFill>
                  <a:schemeClr val="bg1"/>
                </a:solidFill>
              </a:rPr>
              <a:t>Relationship: One to Many</a:t>
            </a:r>
          </a:p>
          <a:p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Branches To AccountBranches</a:t>
            </a:r>
          </a:p>
          <a:p>
            <a:r>
              <a:rPr lang="en-IN" b="1" dirty="0">
                <a:solidFill>
                  <a:schemeClr val="bg1"/>
                </a:solidFill>
              </a:rPr>
              <a:t>Relationship: One To Many</a:t>
            </a:r>
          </a:p>
        </p:txBody>
      </p:sp>
      <p:pic>
        <p:nvPicPr>
          <p:cNvPr id="7" name="Google Shape;95;p14" descr="image.png">
            <a:extLst>
              <a:ext uri="{FF2B5EF4-FFF2-40B4-BE49-F238E27FC236}">
                <a16:creationId xmlns:a16="http://schemas.microsoft.com/office/drawing/2014/main" id="{380D8EB2-2D81-316E-8F6E-2E65F1E5F0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980" y="1120155"/>
            <a:ext cx="368808" cy="318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168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D260-23B0-4836-337F-50FF1CD7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64FFDA"/>
                </a:solidFill>
                <a:latin typeface="Manrope"/>
              </a:rPr>
              <a:t>Database Table Design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Create all the tables with the specified columns and foreign key references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F0F735-32F3-94D7-E601-5DA3690EB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673" y="3802803"/>
            <a:ext cx="5048955" cy="2048162"/>
          </a:xfrm>
          <a:solidFill>
            <a:schemeClr val="bg1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FCEA0-607E-7E1E-2834-C3557E30D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743" y="1792746"/>
            <a:ext cx="3591590" cy="2010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5A6C75-2C09-35F6-F973-605A71181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400" y="3783749"/>
            <a:ext cx="2410161" cy="2067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A3ED9F-7B62-D48B-396A-5B9C975DB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83749"/>
            <a:ext cx="3048000" cy="20672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D466FC-E80E-8810-46F9-5E79502A65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151" y="1792746"/>
            <a:ext cx="4376592" cy="2010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0E3A36-DD69-2DB8-5924-88A7F35E97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2746"/>
            <a:ext cx="2514951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27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5AE7-C6B5-800E-2776-382CFD513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64FF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64FF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at least 10 records into each table to populate the database with sample data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7DB627-68C3-9E14-D0EF-0345B6ACF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09055"/>
            <a:ext cx="5657848" cy="9907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5B60EB-B215-1829-8CB5-0F7EC7436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076" y="3329067"/>
            <a:ext cx="3821497" cy="914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CD70E5-381E-EB84-8EE0-23090E714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4699529"/>
            <a:ext cx="4667250" cy="990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CFA731-7156-3444-20D2-EF8D960D9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363700"/>
            <a:ext cx="5657849" cy="971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B3B832-45C9-698C-3082-D4A455FB8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961" y="2045207"/>
            <a:ext cx="3895725" cy="9145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D090F9-EA13-18FA-DA8B-CE51E410DF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027246"/>
            <a:ext cx="5657850" cy="9812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91DA5E-8507-1A98-DA06-4E940365BB07}"/>
              </a:ext>
            </a:extLst>
          </p:cNvPr>
          <p:cNvSpPr txBox="1"/>
          <p:nvPr/>
        </p:nvSpPr>
        <p:spPr>
          <a:xfrm>
            <a:off x="770333" y="1683282"/>
            <a:ext cx="152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Customers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1965C-9140-AB0E-BC6D-41911F85A3AE}"/>
              </a:ext>
            </a:extLst>
          </p:cNvPr>
          <p:cNvSpPr txBox="1"/>
          <p:nvPr/>
        </p:nvSpPr>
        <p:spPr>
          <a:xfrm>
            <a:off x="6800850" y="1695759"/>
            <a:ext cx="2581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Accounts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14B904-D1BA-9765-90B3-0F3EA0B6E8DF}"/>
              </a:ext>
            </a:extLst>
          </p:cNvPr>
          <p:cNvSpPr txBox="1"/>
          <p:nvPr/>
        </p:nvSpPr>
        <p:spPr>
          <a:xfrm>
            <a:off x="747712" y="3008458"/>
            <a:ext cx="3093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Transactions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E3CC17-528F-58F2-E5A2-99757096AF26}"/>
              </a:ext>
            </a:extLst>
          </p:cNvPr>
          <p:cNvSpPr txBox="1"/>
          <p:nvPr/>
        </p:nvSpPr>
        <p:spPr>
          <a:xfrm>
            <a:off x="6718896" y="2994368"/>
            <a:ext cx="3821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AccountBranches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386BD7-E328-D83C-CDF9-364DD32FC20C}"/>
              </a:ext>
            </a:extLst>
          </p:cNvPr>
          <p:cNvSpPr txBox="1"/>
          <p:nvPr/>
        </p:nvSpPr>
        <p:spPr>
          <a:xfrm>
            <a:off x="747712" y="4339723"/>
            <a:ext cx="3093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Loans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2E2731-B260-403D-E688-6F3E1536ECC3}"/>
              </a:ext>
            </a:extLst>
          </p:cNvPr>
          <p:cNvSpPr txBox="1"/>
          <p:nvPr/>
        </p:nvSpPr>
        <p:spPr>
          <a:xfrm>
            <a:off x="6718896" y="4286896"/>
            <a:ext cx="4014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Branches</a:t>
            </a:r>
          </a:p>
        </p:txBody>
      </p:sp>
    </p:spTree>
    <p:extLst>
      <p:ext uri="{BB962C8B-B14F-4D97-AF65-F5344CB8AC3E}">
        <p14:creationId xmlns:p14="http://schemas.microsoft.com/office/powerpoint/2010/main" val="391031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C0B2-A2E4-D1B9-644C-DF14AAB10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352087" cy="160020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High Value Transactions</a:t>
            </a:r>
            <a:b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all transactions from the Transactions table where the Amount is greater than $500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3F90C4-EE18-C537-F567-BA94F1963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33575"/>
            <a:ext cx="4965985" cy="29908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B6D7A-F1AD-8C35-41F5-4F58171F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324493" cy="3811588"/>
          </a:xfrm>
        </p:spPr>
        <p:txBody>
          <a:bodyPr anchor="ctr">
            <a:normAutofit/>
          </a:bodyPr>
          <a:lstStyle/>
          <a:p>
            <a:pPr algn="just"/>
            <a:endParaRPr lang="en-US" sz="18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Filters the `Transactions` table using a simple `WHERE` clause.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Identifies transactions that exceed $500.</a:t>
            </a:r>
            <a:endParaRPr lang="en-US" sz="1800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725140-1837-556A-CEAE-BD3F806FF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2190748"/>
            <a:ext cx="4324494" cy="79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5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EB9B-8D43-A8FA-4EBD-7DFFD585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Conditional Filtering</a:t>
            </a:r>
            <a:b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</a:t>
            </a: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 all Accounts where the Balance is between $1000 and $5000 and the AccountType is 'Checking'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19EFAA-F1DD-16D2-8105-2494A5377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936" y="2057251"/>
            <a:ext cx="4659457" cy="266022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0B178-7498-3218-1760-A9F2770A3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508758" cy="3811588"/>
          </a:xfrm>
        </p:spPr>
        <p:txBody>
          <a:bodyPr anchor="ctr"/>
          <a:lstStyle/>
          <a:p>
            <a:pPr algn="just"/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Demonstrates combined filtering using `BETWEEN` and `AND` operators.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Precisely targets 'Checking' accounts within a specific balance range ($1k - $5k).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FCDD5-583D-66BC-E91B-F76EA2338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" y="2057251"/>
            <a:ext cx="4508758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55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0E05-8403-FA77-6914-D1F624D9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/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Pattern Matching</a:t>
            </a:r>
            <a:b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 all Customers whose LastName starts with 'J'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2136DB6-9463-3519-64A0-25AC61440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994" y="2057400"/>
            <a:ext cx="5812218" cy="26098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D6D31-DCC1-FB8A-BBC1-6188E5872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47875"/>
            <a:ext cx="3932237" cy="3811588"/>
          </a:xfrm>
        </p:spPr>
        <p:txBody>
          <a:bodyPr anchor="ctr"/>
          <a:lstStyle/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pattern matching.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'J%' means names beginning with letter J.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searching text-based data.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44FFEB-403C-713E-5125-CCF379DD3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12" y="2057400"/>
            <a:ext cx="3932236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44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8C72-2C1D-A70F-9B22-E9B89990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724024"/>
          </a:xfrm>
        </p:spPr>
        <p:txBody>
          <a:bodyPr anchor="ctr">
            <a:normAutofit fontScale="90000"/>
          </a:bodyPr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Data Transformation</a:t>
            </a:r>
            <a:b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</a:t>
            </a: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 AccountID and a new column </a:t>
            </a:r>
            <a:r>
              <a:rPr lang="en-IN" sz="3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AccountStatus</a:t>
            </a: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Accounts table. If Balance is greater than $1000, set </a:t>
            </a:r>
            <a:r>
              <a:rPr lang="en-IN" sz="3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AccountStatus</a:t>
            </a:r>
            <a:r>
              <a:rPr lang="en-IN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'Active', otherwise 'Inactive'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2E135AD-1F02-3193-E796-5EB430A81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81224"/>
            <a:ext cx="3362325" cy="33528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1F29DF-5082-5563-3A56-A0520FE7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9" y="2181225"/>
            <a:ext cx="4465636" cy="1243718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0116058C-FA14-3345-72D1-110E36DCD91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3563441"/>
            <a:ext cx="48085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Adds a new computed column (AccountStatus).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Classifies accounts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or Inactive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balance.</a:t>
            </a:r>
          </a:p>
        </p:txBody>
      </p:sp>
    </p:spTree>
    <p:extLst>
      <p:ext uri="{BB962C8B-B14F-4D97-AF65-F5344CB8AC3E}">
        <p14:creationId xmlns:p14="http://schemas.microsoft.com/office/powerpoint/2010/main" val="137674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58F9-54ED-6894-159C-BA63FC90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Subquery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all Customers who have a balance in their accounts greater than the average balance of all accounts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32DEB3-330F-84A2-6498-79ED5E5CB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564" y="2133501"/>
            <a:ext cx="5789986" cy="100022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B5B4B9-62C0-254E-2031-90C55F40E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" y="2133500"/>
            <a:ext cx="4389437" cy="144800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2EBA188E-E0EF-8668-0E4F-FD4D84ABEC6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3504248"/>
            <a:ext cx="44942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subquery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the average balance.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Filters customers whose account balance is above that average.</a:t>
            </a:r>
          </a:p>
        </p:txBody>
      </p:sp>
    </p:spTree>
    <p:extLst>
      <p:ext uri="{BB962C8B-B14F-4D97-AF65-F5344CB8AC3E}">
        <p14:creationId xmlns:p14="http://schemas.microsoft.com/office/powerpoint/2010/main" val="2655370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4935-381D-410E-BB72-1BEFDECE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>
            <a:normAutofit/>
          </a:bodyPr>
          <a:lstStyle/>
          <a:p>
            <a:r>
              <a:rPr lang="en-US" sz="2800" b="1" i="0" u="none" strike="noStrike" cap="none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Aggregation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the total Balance for each AccountType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666021-1BE1-642E-E82F-0B8F32651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57399"/>
            <a:ext cx="2886075" cy="105727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2B73E6-3B7D-F625-23FF-B9D2DA1C90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057399"/>
            <a:ext cx="3932237" cy="77163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D8F6D57-8793-62C4-76A2-5015E24E81B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3363029"/>
            <a:ext cx="39322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to group based on AccountType.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SUM()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to calculate total balance of each type.</a:t>
            </a:r>
          </a:p>
        </p:txBody>
      </p:sp>
    </p:spTree>
    <p:extLst>
      <p:ext uri="{BB962C8B-B14F-4D97-AF65-F5344CB8AC3E}">
        <p14:creationId xmlns:p14="http://schemas.microsoft.com/office/powerpoint/2010/main" val="208929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06E0-8DFC-6C19-8CEC-89B244F3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/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Filtering Groups</a:t>
            </a:r>
            <a:b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G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the total number of accounts for each Customer, but only include customers who have more than 2 accounts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10B2F2F-CE09-0FAC-753C-30BFF2FC623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3363029"/>
            <a:ext cx="467778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COUNT()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to count accounts per customer.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HAVING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(not WHERE) because condition applies after grouping.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75DF7E-AA24-374C-4284-97D7A4F47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2156996"/>
            <a:ext cx="4584267" cy="962025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67EF13B-7F24-9F03-4A6A-7B2EF85CE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56996"/>
            <a:ext cx="3164026" cy="1477328"/>
          </a:xfrm>
        </p:spPr>
      </p:pic>
    </p:spTree>
    <p:extLst>
      <p:ext uri="{BB962C8B-B14F-4D97-AF65-F5344CB8AC3E}">
        <p14:creationId xmlns:p14="http://schemas.microsoft.com/office/powerpoint/2010/main" val="2441304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3D52-F856-605B-9DD0-09D1A3BA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Ranking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the top 5 customers with the highest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LoanAmount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8442D0-4532-7DB0-0DC1-867B779AD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2067790"/>
            <a:ext cx="4149436" cy="29198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09DBC1-C40D-7B99-094A-4D4B4CB1D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" y="2271712"/>
            <a:ext cx="4327671" cy="77152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E3BAAE26-85CD-579E-BA12-B43BD642A89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3501528"/>
            <a:ext cx="43244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BY DESC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sort high to low.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fetch only top 5 records.</a:t>
            </a:r>
          </a:p>
        </p:txBody>
      </p:sp>
    </p:spTree>
    <p:extLst>
      <p:ext uri="{BB962C8B-B14F-4D97-AF65-F5344CB8AC3E}">
        <p14:creationId xmlns:p14="http://schemas.microsoft.com/office/powerpoint/2010/main" val="93536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7672-EABC-3B30-1068-46115BE8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Inner Join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Transactions with Accounts to get a list of all transactions with AccountID, TransactionDate, and Amount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E09052-3B27-AA28-809C-10981AF04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73712" y="2067719"/>
            <a:ext cx="4941888" cy="24956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E75FF5-A09D-51CF-3396-C8E88F840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8" y="2221706"/>
            <a:ext cx="4113212" cy="977017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DE4C1425-6EF7-F47B-4395-54C95815B78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3363029"/>
            <a:ext cx="41132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Connects related tables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only accounts that have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04434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A6ADD-16D1-3765-37B5-C77428C2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Outer Join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a list of all Accounts and any associated Transactions. Include accounts that might not have any transactions.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7BDFAF-5D4C-605D-B363-475E7EEAA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83363" y="2119129"/>
            <a:ext cx="3932237" cy="3304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BBCA7-8129-58D4-1C9F-D5B3777C2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7" y="2057399"/>
            <a:ext cx="3932237" cy="94297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74A09AB-7436-6CF4-E42E-F4923A0610D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9" y="3501529"/>
            <a:ext cx="39322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LEFT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include accounts even if they have no transactions.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detect inactive or new accounts.</a:t>
            </a:r>
          </a:p>
        </p:txBody>
      </p:sp>
    </p:spTree>
    <p:extLst>
      <p:ext uri="{BB962C8B-B14F-4D97-AF65-F5344CB8AC3E}">
        <p14:creationId xmlns:p14="http://schemas.microsoft.com/office/powerpoint/2010/main" val="750663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EFB8-2A8B-DB6D-5C8E-B61A1CFA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10457326" cy="1600200"/>
          </a:xfrm>
        </p:spPr>
        <p:txBody>
          <a:bodyPr anchor="ctr">
            <a:normAutofit/>
          </a:bodyPr>
          <a:lstStyle/>
          <a:p>
            <a:r>
              <a:rPr lang="en-US" sz="2800" b="1" i="0" u="none" strike="noStrike" cap="none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Branch Analytics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the total number of accounts for each branch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012DDD9-AB32-1FFF-8E59-53AD8B516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53125" y="2057400"/>
            <a:ext cx="3367520" cy="2495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4873B9-919F-1D1B-7D4A-167CB0FAA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057400"/>
            <a:ext cx="4450774" cy="1111827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7E6BBC11-1A09-B2C8-6E9C-B87F6378CB6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9" y="3501529"/>
            <a:ext cx="39072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Counts how many accounts belong to each branch.</a:t>
            </a:r>
          </a:p>
        </p:txBody>
      </p:sp>
    </p:spTree>
    <p:extLst>
      <p:ext uri="{BB962C8B-B14F-4D97-AF65-F5344CB8AC3E}">
        <p14:creationId xmlns:p14="http://schemas.microsoft.com/office/powerpoint/2010/main" val="134071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4B2E-5B94-B2EB-6BA2-8A0BF32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00519" cy="1600200"/>
          </a:xfrm>
        </p:spPr>
        <p:txBody>
          <a:bodyPr anchor="ctr">
            <a:normAutofit/>
          </a:bodyPr>
          <a:lstStyle/>
          <a:p>
            <a:r>
              <a:rPr lang="en-US" sz="2800" b="1" i="0" u="none" strike="noStrike" cap="none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High Value Branches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all Branches that manage accounts with a total balance of more than $100,000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5FC92C-8462-4DCB-BFE0-0A9299C97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78488" y="2057400"/>
            <a:ext cx="5673724" cy="1171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57F909-CC8B-3CBC-5CE2-51F611B2F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93" y="2057400"/>
            <a:ext cx="4210050" cy="217170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A72C27E-E207-0548-8B93-C4BFFD31779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51693" y="4338936"/>
            <a:ext cx="421004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subquery + HAVING SUM()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Finds only branches with high-value managed accounts.</a:t>
            </a:r>
          </a:p>
        </p:txBody>
      </p:sp>
    </p:spTree>
    <p:extLst>
      <p:ext uri="{BB962C8B-B14F-4D97-AF65-F5344CB8AC3E}">
        <p14:creationId xmlns:p14="http://schemas.microsoft.com/office/powerpoint/2010/main" val="3687688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18C0-082B-DFD9-FA7D-419385D6D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/>
          <a:lstStyle/>
          <a:p>
            <a:r>
              <a:rPr lang="en-US" b="1" dirty="0">
                <a:solidFill>
                  <a:srgbClr val="64FFDA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Full Customer View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FirstName, LastName, AccountID, and TransactionDate for all transactions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F2774A2-F0C8-2C9E-CE00-BF086CCA8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5999" y="2057400"/>
            <a:ext cx="4596245" cy="3179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E9725E-3BCB-49BD-B829-B6214DF12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12" y="2057400"/>
            <a:ext cx="3932237" cy="142875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812519C-B961-604D-C06C-FB037EC9079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3657600"/>
            <a:ext cx="39290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INNER JOIN + LEFT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customer, account, and transaction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Retrieves complete banking activity history.</a:t>
            </a:r>
          </a:p>
        </p:txBody>
      </p:sp>
    </p:spTree>
    <p:extLst>
      <p:ext uri="{BB962C8B-B14F-4D97-AF65-F5344CB8AC3E}">
        <p14:creationId xmlns:p14="http://schemas.microsoft.com/office/powerpoint/2010/main" val="472034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F5FDE-A586-2A5B-CC1D-67955E27A6C7}"/>
              </a:ext>
            </a:extLst>
          </p:cNvPr>
          <p:cNvSpPr txBox="1"/>
          <p:nvPr/>
        </p:nvSpPr>
        <p:spPr>
          <a:xfrm>
            <a:off x="4638675" y="2721114"/>
            <a:ext cx="29146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624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611</Words>
  <Application>Microsoft Office PowerPoint</Application>
  <PresentationFormat>Widescreen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Manrope</vt:lpstr>
      <vt:lpstr>Times New Roman</vt:lpstr>
      <vt:lpstr>Office Theme</vt:lpstr>
      <vt:lpstr>SQL Case Study  Simple Banking Application</vt:lpstr>
      <vt:lpstr>Database Schema </vt:lpstr>
      <vt:lpstr>Database Table Design Create all the tables with the specified columns and foreign key references</vt:lpstr>
      <vt:lpstr>Data Insertion Insert at least 10 records into each table to populate the database with sample data</vt:lpstr>
      <vt:lpstr>High Value Transactions Select all transactions from the Transactions table where the Amount is greater than $500</vt:lpstr>
      <vt:lpstr>Conditional Filtering Select all Accounts where the Balance is between $1000 and $5000 and the AccountType is 'Checking' </vt:lpstr>
      <vt:lpstr>Pattern Matching Select all Customers whose LastName starts with 'J' </vt:lpstr>
      <vt:lpstr>Data Transformation Select AccountID and a new column AccountStatus from the Accounts table. If Balance is greater than $1000, set AccountStatus to 'Active', otherwise 'Inactive'</vt:lpstr>
      <vt:lpstr>Subquery Analysis Find all Customers who have a balance in their accounts greater than the average balance of all accounts</vt:lpstr>
      <vt:lpstr>Aggregation Get the total Balance for each AccountType</vt:lpstr>
      <vt:lpstr>Filtering Groups Get the total number of accounts for each Customer, but only include customers who have more than 2 accounts</vt:lpstr>
      <vt:lpstr>Ranking Data Select the top 5 customers with the highest LoanAmount</vt:lpstr>
      <vt:lpstr>Inner Join Join Transactions with Accounts to get a list of all transactions with AccountID, TransactionDate, and Amount</vt:lpstr>
      <vt:lpstr>Outer Join Get a list of all Accounts and any associated Transactions. Include accounts that might not have any transactions.</vt:lpstr>
      <vt:lpstr>Branch Analytics Get the total number of accounts for each branch</vt:lpstr>
      <vt:lpstr>High Value Branches find all Branches that manage accounts with a total balance of more than $100,000</vt:lpstr>
      <vt:lpstr>Full Customer View List FirstName, LastName, AccountID, and TransactionDate for all transactions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 PATIL</dc:creator>
  <cp:lastModifiedBy>DEVANSH PATIL</cp:lastModifiedBy>
  <cp:revision>10</cp:revision>
  <dcterms:created xsi:type="dcterms:W3CDTF">2025-11-21T02:40:35Z</dcterms:created>
  <dcterms:modified xsi:type="dcterms:W3CDTF">2025-11-21T10:00:08Z</dcterms:modified>
</cp:coreProperties>
</file>